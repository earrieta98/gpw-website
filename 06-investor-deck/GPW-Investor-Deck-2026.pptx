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nrique Arrieta Guajardo" userId="3d46e38311c2ed0b" providerId="LiveId" clId="{FA3886C1-6234-42DE-8F31-C4C9C86359FD}"/>
    <pc:docChg chg="undo custSel modSld">
      <pc:chgData name="Enrique Arrieta Guajardo" userId="3d46e38311c2ed0b" providerId="LiveId" clId="{FA3886C1-6234-42DE-8F31-C4C9C86359FD}" dt="2026-03-06T02:16:29.373" v="14" actId="1076"/>
      <pc:docMkLst>
        <pc:docMk/>
      </pc:docMkLst>
      <pc:sldChg chg="modSp mod">
        <pc:chgData name="Enrique Arrieta Guajardo" userId="3d46e38311c2ed0b" providerId="LiveId" clId="{FA3886C1-6234-42DE-8F31-C4C9C86359FD}" dt="2026-03-06T02:16:29.373" v="14" actId="1076"/>
        <pc:sldMkLst>
          <pc:docMk/>
          <pc:sldMk cId="0" sldId="261"/>
        </pc:sldMkLst>
        <pc:spChg chg="mod">
          <ac:chgData name="Enrique Arrieta Guajardo" userId="3d46e38311c2ed0b" providerId="LiveId" clId="{FA3886C1-6234-42DE-8F31-C4C9C86359FD}" dt="2026-03-06T02:16:29.373" v="14" actId="1076"/>
          <ac:spMkLst>
            <pc:docMk/>
            <pc:sldMk cId="0" sldId="261"/>
            <ac:spMk id="6" creationId="{00000000-0000-0000-0000-000000000000}"/>
          </ac:spMkLst>
        </pc:spChg>
        <pc:spChg chg="mod">
          <ac:chgData name="Enrique Arrieta Guajardo" userId="3d46e38311c2ed0b" providerId="LiveId" clId="{FA3886C1-6234-42DE-8F31-C4C9C86359FD}" dt="2026-03-06T02:16:18.016" v="6" actId="1076"/>
          <ac:spMkLst>
            <pc:docMk/>
            <pc:sldMk cId="0" sldId="261"/>
            <ac:spMk id="8" creationId="{00000000-0000-0000-0000-000000000000}"/>
          </ac:spMkLst>
        </pc:spChg>
        <pc:spChg chg="mod">
          <ac:chgData name="Enrique Arrieta Guajardo" userId="3d46e38311c2ed0b" providerId="LiveId" clId="{FA3886C1-6234-42DE-8F31-C4C9C86359FD}" dt="2026-03-06T02:16:23.706" v="12" actId="1076"/>
          <ac:spMkLst>
            <pc:docMk/>
            <pc:sldMk cId="0" sldId="261"/>
            <ac:spMk id="9" creationId="{00000000-0000-0000-0000-000000000000}"/>
          </ac:spMkLst>
        </pc:spChg>
        <pc:spChg chg="mod">
          <ac:chgData name="Enrique Arrieta Guajardo" userId="3d46e38311c2ed0b" providerId="LiveId" clId="{FA3886C1-6234-42DE-8F31-C4C9C86359FD}" dt="2026-03-06T02:16:26.069" v="13" actId="1076"/>
          <ac:spMkLst>
            <pc:docMk/>
            <pc:sldMk cId="0" sldId="261"/>
            <ac:spMk id="10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 Breakdown</c:v>
                </c:pt>
              </c:strCache>
            </c:strRef>
          </c:tx>
          <c:spPr>
            <a:solidFill>
              <a:srgbClr val="23555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Materials</c:v>
                </c:pt>
                <c:pt idx="1">
                  <c:v>Direct Labor</c:v>
                </c:pt>
                <c:pt idx="2">
                  <c:v>Overhead</c:v>
                </c:pt>
                <c:pt idx="3">
                  <c:v>SGA</c:v>
                </c:pt>
                <c:pt idx="4">
                  <c:v>Marketing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55</c:v>
                </c:pt>
                <c:pt idx="1">
                  <c:v>15</c:v>
                </c:pt>
                <c:pt idx="2">
                  <c:v>10</c:v>
                </c:pt>
                <c:pt idx="3">
                  <c:v>12</c:v>
                </c:pt>
                <c:pt idx="4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03F-42E0-AFFC-246765A48D5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BA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2A4E64"/>
                </a:solidFill>
                <a:latin typeface="Arial"/>
              </a:defRPr>
            </a:pPr>
            <a:r>
              <a:rPr sz="1800" b="0" i="0" u="none" strike="noStrike">
                <a:solidFill>
                  <a:srgbClr val="2A4E64"/>
                </a:solidFill>
                <a:latin typeface="Arial"/>
              </a:rPr>
              <a:t>Revenue ($M USD)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 USD)</c:v>
                </c:pt>
              </c:strCache>
            </c:strRef>
          </c:tx>
          <c:spPr>
            <a:solidFill>
              <a:srgbClr val="23555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35.299999999999997</c:v>
                </c:pt>
                <c:pt idx="1">
                  <c:v>64</c:v>
                </c:pt>
                <c:pt idx="2">
                  <c:v>71</c:v>
                </c:pt>
                <c:pt idx="3">
                  <c:v>74</c:v>
                </c:pt>
                <c:pt idx="4">
                  <c:v>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7D4-48C9-9196-DA0F16DF18E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BA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8571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3555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D835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0" y="1371600"/>
            <a:ext cx="137160" cy="2286000"/>
          </a:xfrm>
          <a:prstGeom prst="rect">
            <a:avLst/>
          </a:prstGeom>
          <a:solidFill>
            <a:srgbClr val="23555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kern="0" spc="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PRECISION WORKS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Assembly. Nearshore Advantage.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2423160"/>
            <a:ext cx="2286000" cy="0"/>
          </a:xfrm>
          <a:prstGeom prst="line">
            <a:avLst/>
          </a:prstGeom>
          <a:noFill/>
          <a:ln w="25400">
            <a:solidFill>
              <a:srgbClr val="ADCF9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Presentation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31520" y="3383280"/>
            <a:ext cx="457200" cy="457200"/>
          </a:xfrm>
          <a:prstGeom prst="ellipse">
            <a:avLst/>
          </a:prstGeom>
          <a:solidFill>
            <a:srgbClr val="23555A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47472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34015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EMS Assembly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474720" y="3383280"/>
            <a:ext cx="457200" cy="457200"/>
          </a:xfrm>
          <a:prstGeom prst="ellipse">
            <a:avLst/>
          </a:prstGeom>
          <a:solidFill>
            <a:srgbClr val="23555A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347472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023360" y="34015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Monterrey, MX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217920" y="3383280"/>
            <a:ext cx="457200" cy="457200"/>
          </a:xfrm>
          <a:prstGeom prst="ellipse">
            <a:avLst/>
          </a:prstGeom>
          <a:solidFill>
            <a:srgbClr val="23555A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347472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66560" y="34015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$7.5M Raise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731520" y="4389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  |  Monterrey, Nuevo León, Mexico  |  gpw-solutions.com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3555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5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Structural Shift in Global Manufacturing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2560320" cy="1691640"/>
          </a:xfrm>
          <a:prstGeom prst="rect">
            <a:avLst/>
          </a:prstGeom>
          <a:solidFill>
            <a:srgbClr val="F5F7F9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54864" cy="1691640"/>
          </a:xfrm>
          <a:prstGeom prst="rect">
            <a:avLst/>
          </a:prstGeom>
          <a:solidFill>
            <a:srgbClr val="ED835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868680" y="1508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35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$103B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68680" y="20574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Mexico's electronics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 in 2023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606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 to the U.S.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0" y="1417320"/>
            <a:ext cx="2560320" cy="1691640"/>
          </a:xfrm>
          <a:prstGeom prst="rect">
            <a:avLst/>
          </a:prstGeom>
          <a:solidFill>
            <a:srgbClr val="F5F7F9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3474720" y="1417320"/>
            <a:ext cx="54864" cy="1691640"/>
          </a:xfrm>
          <a:prstGeom prst="rect">
            <a:avLst/>
          </a:prstGeom>
          <a:solidFill>
            <a:srgbClr val="ED835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3703320" y="1508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35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703320" y="20574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U.S. companies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nearshoring to Mexico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03320" y="2606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Post-pandemic shift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309360" y="1417320"/>
            <a:ext cx="2560320" cy="1691640"/>
          </a:xfrm>
          <a:prstGeom prst="rect">
            <a:avLst/>
          </a:prstGeom>
          <a:solidFill>
            <a:srgbClr val="F5F7F9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6" name="Shape 14"/>
          <p:cNvSpPr/>
          <p:nvPr/>
        </p:nvSpPr>
        <p:spPr>
          <a:xfrm>
            <a:off x="6309360" y="1417320"/>
            <a:ext cx="54864" cy="1691640"/>
          </a:xfrm>
          <a:prstGeom prst="rect">
            <a:avLst/>
          </a:prstGeom>
          <a:solidFill>
            <a:srgbClr val="ED835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6537960" y="1508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35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$780B+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537960" y="20574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infrastructure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by 2028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37960" y="2606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Hyperscaler demand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3383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4E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Convergence of Forces</a:t>
            </a:r>
            <a:endParaRPr lang="en-US" sz="160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813048"/>
            <a:ext cx="201168" cy="201168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960120" y="3794760"/>
            <a:ext cx="7543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U.S.-China trade tensions &amp; tariffs driving supply chain diversification</a:t>
            </a:r>
            <a:endParaRPr lang="en-US" sz="1200" dirty="0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133088"/>
            <a:ext cx="201168" cy="20116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960120" y="4114800"/>
            <a:ext cx="7543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USMCA enabling tariff-free cross-border manufacturing</a:t>
            </a:r>
            <a:endParaRPr lang="en-US" sz="120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453128"/>
            <a:ext cx="201168" cy="20116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960120" y="4434840"/>
            <a:ext cx="7543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AI/Data center CapEx explosion creating unprecedented assembly demand</a:t>
            </a:r>
            <a:endParaRPr lang="en-US" sz="12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773168"/>
            <a:ext cx="201168" cy="20116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60120" y="4754880"/>
            <a:ext cx="7543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exposed single-source supply chain vulnerability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3555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5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OEMs Are Caught in a Manufacturing Squeeze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3931920" cy="731520"/>
          </a:xfrm>
          <a:prstGeom prst="rect">
            <a:avLst/>
          </a:prstGeom>
          <a:solidFill>
            <a:srgbClr val="F5F7F9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54864" cy="731520"/>
          </a:xfrm>
          <a:prstGeom prst="rect">
            <a:avLst/>
          </a:prstGeom>
          <a:solidFill>
            <a:srgbClr val="ED835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868680" y="1417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Offshore Risk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6916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12-16 week lead times from Asia, tariffs up to 25%, IP concerns, single-source vulnerability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240280"/>
            <a:ext cx="3931920" cy="731520"/>
          </a:xfrm>
          <a:prstGeom prst="rect">
            <a:avLst/>
          </a:prstGeom>
          <a:solidFill>
            <a:srgbClr val="F5F7F9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640080" y="2240280"/>
            <a:ext cx="54864" cy="731520"/>
          </a:xfrm>
          <a:prstGeom prst="rect">
            <a:avLst/>
          </a:prstGeom>
          <a:solidFill>
            <a:srgbClr val="ED835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868680" y="2286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Cost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2560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assembly labor 3-4x higher, facility costs prohibitive for scale-up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3108960"/>
            <a:ext cx="3931920" cy="731520"/>
          </a:xfrm>
          <a:prstGeom prst="rect">
            <a:avLst/>
          </a:prstGeom>
          <a:solidFill>
            <a:srgbClr val="F5F7F9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640080" y="3108960"/>
            <a:ext cx="54864" cy="731520"/>
          </a:xfrm>
          <a:prstGeom prst="rect">
            <a:avLst/>
          </a:prstGeom>
          <a:solidFill>
            <a:srgbClr val="ED835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868680" y="3154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Mega-EMS Mismatch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3429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Jabil, Flex, Foxconn: $500M+ minimums, rigid contracts, slow engineering changes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3977640"/>
            <a:ext cx="3931920" cy="731520"/>
          </a:xfrm>
          <a:prstGeom prst="rect">
            <a:avLst/>
          </a:prstGeom>
          <a:solidFill>
            <a:srgbClr val="F5F7F9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8" name="Shape 16"/>
          <p:cNvSpPr/>
          <p:nvPr/>
        </p:nvSpPr>
        <p:spPr>
          <a:xfrm>
            <a:off x="640080" y="3977640"/>
            <a:ext cx="54864" cy="731520"/>
          </a:xfrm>
          <a:prstGeom prst="rect">
            <a:avLst/>
          </a:prstGeom>
          <a:solidFill>
            <a:srgbClr val="ED835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868680" y="4023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68680" y="4297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assemblers lack traceability, certifications, and scalable processes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4E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Impact on OEMs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29200" y="18745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D83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67%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217920" y="18745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OEMs report supply chain disruptions in the past 2 years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0" y="258775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D83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3-4x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217920" y="258775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premium for U.S.-based assembly vs. nearshore Mexico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0" y="330098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D83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45+ days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217920" y="330098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delay when sourcing from Asia-Pacific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0" y="401421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D83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$2.3T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6217920" y="401421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supply chain losses since 2020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solidFill>
            <a:srgbClr val="23555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1" name="Text 29"/>
          <p:cNvSpPr/>
          <p:nvPr/>
        </p:nvSpPr>
        <p:spPr>
          <a:xfrm>
            <a:off x="822960" y="45720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OEMs need a right-sized, quality-certified, nearshore assembly partner — and it doesn't exist yet.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3555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5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GPW: Your Nearshore Precision Assembly Partner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technical rigor of a Tier 1 supplier with the agility of a startup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3749040" cy="1234440"/>
          </a:xfrm>
          <a:prstGeom prst="rect">
            <a:avLst/>
          </a:prstGeom>
          <a:solidFill>
            <a:srgbClr val="F5F7F9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8288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80136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Assembly-First Focus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325880" y="21488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build, cable harness, system integration, enclosure assembly — we don't dilute with PCBA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691640"/>
            <a:ext cx="3749040" cy="1234440"/>
          </a:xfrm>
          <a:prstGeom prst="rect">
            <a:avLst/>
          </a:prstGeom>
          <a:solidFill>
            <a:srgbClr val="F5F7F9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82880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180136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Nearshore Advantage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440680" y="21488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hours from U.S. border, same timezone, USMCA-compliant, bilingual team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" y="3108960"/>
            <a:ext cx="3749040" cy="1234440"/>
          </a:xfrm>
          <a:prstGeom prst="rect">
            <a:avLst/>
          </a:prstGeom>
          <a:solidFill>
            <a:srgbClr val="F5F7F9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24612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25880" y="321868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Traceability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325880" y="35661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digital traceability, ISO-aligned processes, end-of-line testing, burn-in validation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754880" y="3108960"/>
            <a:ext cx="3749040" cy="1234440"/>
          </a:xfrm>
          <a:prstGeom prst="rect">
            <a:avLst/>
          </a:prstGeom>
          <a:solidFill>
            <a:srgbClr val="F5F7F9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246120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40680" y="321868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&amp; Right-Sized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5440680" y="35661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$500M minimums. Rapid ECO implementation, flexible capacity, dedicated program management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3555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3" name="Text 17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Monterrey, Mexico  •  5,000 m² Facility  •  Assembly-First EMS  •  USMCA-Compliant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3555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SERVICES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5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Assembly &amp; Integration Services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554480" cy="1463040"/>
          </a:xfrm>
          <a:prstGeom prst="rect">
            <a:avLst/>
          </a:prstGeom>
          <a:solidFill>
            <a:srgbClr val="23555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 &amp; Wire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Assembly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176272" y="1371600"/>
            <a:ext cx="1554480" cy="1463040"/>
          </a:xfrm>
          <a:prstGeom prst="rect">
            <a:avLst/>
          </a:prstGeom>
          <a:solidFill>
            <a:srgbClr val="2A4E64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2267712" y="150876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Build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95344" y="1371600"/>
            <a:ext cx="1554480" cy="1463040"/>
          </a:xfrm>
          <a:prstGeom prst="rect">
            <a:avLst/>
          </a:prstGeom>
          <a:solidFill>
            <a:srgbClr val="23555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3986784" y="150876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End-of-Line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Burn-In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14416" y="1371600"/>
            <a:ext cx="1554480" cy="1463040"/>
          </a:xfrm>
          <a:prstGeom prst="rect">
            <a:avLst/>
          </a:prstGeom>
          <a:solidFill>
            <a:srgbClr val="2A4E64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5705856" y="150876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33488" y="1371600"/>
            <a:ext cx="1554480" cy="1463040"/>
          </a:xfrm>
          <a:prstGeom prst="rect">
            <a:avLst/>
          </a:prstGeom>
          <a:solidFill>
            <a:srgbClr val="23555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7424928" y="150876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Enclosure &amp;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Cabinet Assembly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4E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Industries We Serve</a:t>
            </a:r>
            <a:endParaRPr lang="en-US" sz="160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611880"/>
            <a:ext cx="274320" cy="27432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005840" y="3566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Server Rack</a:t>
            </a:r>
            <a:endParaRPr lang="en-US" sz="12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7480" y="3611880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063240" y="3566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</a:t>
            </a:r>
            <a:endParaRPr lang="en-US" sz="12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3611880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120640" y="3566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Devices</a:t>
            </a:r>
            <a:endParaRPr lang="en-US" sz="12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2280" y="3611880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78040" y="3566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</a:t>
            </a:r>
            <a:endParaRPr lang="en-US" sz="12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297680"/>
            <a:ext cx="274320" cy="27432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005840" y="42519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</a:t>
            </a:r>
            <a:endParaRPr lang="en-US" sz="120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97480" y="4297680"/>
            <a:ext cx="274320" cy="27432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3063240" y="42519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Aerospace</a:t>
            </a:r>
            <a:endParaRPr lang="en-US" sz="1200" dirty="0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4880" y="4297680"/>
            <a:ext cx="274320" cy="27432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120640" y="42519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Appliances</a:t>
            </a:r>
            <a:endParaRPr lang="en-US" sz="1200" dirty="0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12280" y="4297680"/>
            <a:ext cx="274320" cy="27432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7178040" y="42519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Equipment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3555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5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$782B Market with Massive Nearshore Demand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3840480" cy="3474720"/>
          </a:xfrm>
          <a:prstGeom prst="ellipse">
            <a:avLst/>
          </a:prstGeom>
          <a:solidFill>
            <a:srgbClr val="23555A">
              <a:alpha val="15000"/>
            </a:srgbClr>
          </a:solidFill>
          <a:ln w="25400">
            <a:solidFill>
              <a:srgbClr val="23555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2057400" y="1333718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3555A"/>
                </a:solidFill>
              </a:rPr>
              <a:t>TAM</a:t>
            </a:r>
            <a:endParaRPr lang="en-US" sz="1200" dirty="0"/>
          </a:p>
          <a:p>
            <a:pPr marL="0" indent="0">
              <a:buNone/>
            </a:pPr>
            <a:r>
              <a:rPr lang="en-US" sz="2000" b="1" dirty="0">
                <a:solidFill>
                  <a:srgbClr val="23555A"/>
                </a:solidFill>
              </a:rPr>
              <a:t>$782.66B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371600" y="2011680"/>
            <a:ext cx="2743200" cy="2468880"/>
          </a:xfrm>
          <a:prstGeom prst="ellipse">
            <a:avLst/>
          </a:prstGeom>
          <a:solidFill>
            <a:srgbClr val="2A4E64">
              <a:alpha val="15000"/>
            </a:srgbClr>
          </a:solidFill>
          <a:ln w="25400">
            <a:solidFill>
              <a:srgbClr val="2A4E6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2286000" y="229057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4E64"/>
                </a:solidFill>
              </a:rPr>
              <a:t>SAM</a:t>
            </a:r>
            <a:endParaRPr lang="en-US" sz="1200" dirty="0"/>
          </a:p>
          <a:p>
            <a:pPr marL="0" indent="0">
              <a:buNone/>
            </a:pPr>
            <a:r>
              <a:rPr lang="en-US" b="1" dirty="0">
                <a:solidFill>
                  <a:srgbClr val="2A4E64"/>
                </a:solidFill>
              </a:rPr>
              <a:t>$</a:t>
            </a:r>
            <a:r>
              <a:rPr lang="en-US" sz="1600" b="1" dirty="0">
                <a:solidFill>
                  <a:srgbClr val="2A4E64"/>
                </a:solidFill>
              </a:rPr>
              <a:t>344.06B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011680" y="2743200"/>
            <a:ext cx="1645920" cy="1463040"/>
          </a:xfrm>
          <a:prstGeom prst="ellipse">
            <a:avLst/>
          </a:prstGeom>
          <a:solidFill>
            <a:srgbClr val="ED835E">
              <a:alpha val="25000"/>
            </a:srgbClr>
          </a:solidFill>
          <a:ln w="25400">
            <a:solidFill>
              <a:srgbClr val="ED835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2377440" y="2877094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D835E"/>
                </a:solidFill>
              </a:rPr>
              <a:t>SOM</a:t>
            </a:r>
            <a:endParaRPr lang="en-US" sz="1100" dirty="0"/>
          </a:p>
          <a:p>
            <a:pPr marL="0" indent="0">
              <a:buNone/>
            </a:pPr>
            <a:r>
              <a:rPr lang="en-US" sz="1600" b="1" dirty="0">
                <a:solidFill>
                  <a:srgbClr val="ED835E"/>
                </a:solidFill>
              </a:rPr>
              <a:t>$100M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4E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 Segments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29200" y="1783080"/>
            <a:ext cx="3657600" cy="320040"/>
          </a:xfrm>
          <a:prstGeom prst="rect">
            <a:avLst/>
          </a:prstGeom>
          <a:solidFill>
            <a:srgbClr val="23555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5074920" y="17830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766560" y="1783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0" y="17830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0" y="2103120"/>
            <a:ext cx="3657600" cy="301752"/>
          </a:xfrm>
          <a:prstGeom prst="rect">
            <a:avLst/>
          </a:prstGeom>
          <a:solidFill>
            <a:srgbClr val="F5F7F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5074920" y="2103120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766560" y="2103120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$382.5B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0" y="2103120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49%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0" y="2404872"/>
            <a:ext cx="3657600" cy="3017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5074920" y="2404872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766560" y="2404872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$177.6B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772400" y="2404872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23%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0" y="2706624"/>
            <a:ext cx="3657600" cy="301752"/>
          </a:xfrm>
          <a:prstGeom prst="rect">
            <a:avLst/>
          </a:prstGeom>
          <a:solidFill>
            <a:srgbClr val="F5F7F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5074920" y="2706624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766560" y="2706624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$71.6B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772400" y="2706624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29200" y="3008376"/>
            <a:ext cx="3657600" cy="3017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9" name="Text 27"/>
          <p:cNvSpPr/>
          <p:nvPr/>
        </p:nvSpPr>
        <p:spPr>
          <a:xfrm>
            <a:off x="5074920" y="3008376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Services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766560" y="3008376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$62.9B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772400" y="3008376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29200" y="3310128"/>
            <a:ext cx="3657600" cy="301752"/>
          </a:xfrm>
          <a:prstGeom prst="rect">
            <a:avLst/>
          </a:prstGeom>
          <a:solidFill>
            <a:srgbClr val="F5F7F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3" name="Text 31"/>
          <p:cNvSpPr/>
          <p:nvPr/>
        </p:nvSpPr>
        <p:spPr>
          <a:xfrm>
            <a:off x="5074920" y="3310128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766560" y="3310128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$55.7B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772400" y="3310128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29200" y="3611880"/>
            <a:ext cx="3657600" cy="3017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7" name="Text 35"/>
          <p:cNvSpPr/>
          <p:nvPr/>
        </p:nvSpPr>
        <p:spPr>
          <a:xfrm>
            <a:off x="5074920" y="3611880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766560" y="3611880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$20.9B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772400" y="3611880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029200" y="3913632"/>
            <a:ext cx="3657600" cy="301752"/>
          </a:xfrm>
          <a:prstGeom prst="rect">
            <a:avLst/>
          </a:prstGeom>
          <a:solidFill>
            <a:srgbClr val="F5F7F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1" name="Text 39"/>
          <p:cNvSpPr/>
          <p:nvPr/>
        </p:nvSpPr>
        <p:spPr>
          <a:xfrm>
            <a:off x="5074920" y="3913632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766560" y="3913632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$11.6B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772400" y="3913632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40080" y="470916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Statista, Grand View Research, Markets and Markets, Fortune Business Insights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3555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5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Model &amp; Unit Economics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Contract-based EMS revenue: OEMs pay per-unit assembly fees with material pass-through + margin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1920240" cy="1280160"/>
          </a:xfrm>
          <a:prstGeom prst="rect">
            <a:avLst/>
          </a:prstGeom>
          <a:solidFill>
            <a:srgbClr val="23555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38.6%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Margin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8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(Year 1)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51760" y="1691640"/>
            <a:ext cx="1920240" cy="1280160"/>
          </a:xfrm>
          <a:prstGeom prst="rect">
            <a:avLst/>
          </a:prstGeom>
          <a:solidFill>
            <a:srgbClr val="F5F7F9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2651760" y="17830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D83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12.3%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651760" y="23317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Margin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(Year 1)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1691640"/>
            <a:ext cx="1920240" cy="1280160"/>
          </a:xfrm>
          <a:prstGeom prst="rect">
            <a:avLst/>
          </a:prstGeom>
          <a:solidFill>
            <a:srgbClr val="F5F7F9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4846320" y="17830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D83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&lt;12 mo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846320" y="23317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Breakeven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040880" y="1691640"/>
            <a:ext cx="1920240" cy="1280160"/>
          </a:xfrm>
          <a:prstGeom prst="rect">
            <a:avLst/>
          </a:prstGeom>
          <a:solidFill>
            <a:srgbClr val="F5F7F9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7040880" y="17830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D83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&lt;60 days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7040880" y="23317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Conversion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3246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4E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Drivers</a:t>
            </a:r>
            <a:endParaRPr lang="en-US" sz="14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611880"/>
            <a:ext cx="182880" cy="18288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914400" y="35844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Per-unit assembly fees (labor + overhead + margin)</a:t>
            </a:r>
            <a:endParaRPr lang="en-US" sz="110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886200"/>
            <a:ext cx="182880" cy="1828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914400" y="38587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procurement pass-through with markup</a:t>
            </a:r>
            <a:endParaRPr lang="en-US" sz="11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160520"/>
            <a:ext cx="182880" cy="18288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914400" y="41330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validation services (burn-in, functional test)</a:t>
            </a:r>
            <a:endParaRPr lang="en-US" sz="11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434840"/>
            <a:ext cx="182880" cy="1828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14400" y="44074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services (NPI, prototype, ECO management)</a:t>
            </a:r>
            <a:endParaRPr lang="en-US" sz="110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709160"/>
            <a:ext cx="182880" cy="1828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14400" y="46817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&amp; fulfillment coordination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5029200" y="3246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4E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Structure (Year 1)</a:t>
            </a:r>
            <a:endParaRPr lang="en-US" sz="1400" dirty="0"/>
          </a:p>
        </p:txBody>
      </p:sp>
      <p:graphicFrame>
        <p:nvGraphicFramePr>
          <p:cNvPr id="30" name="Chart 0"/>
          <p:cNvGraphicFramePr/>
          <p:nvPr/>
        </p:nvGraphicFramePr>
        <p:xfrm>
          <a:off x="5029200" y="3520440"/>
          <a:ext cx="3657600" cy="1463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3555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5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 Built, Ready to Scale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7589520" cy="0"/>
          </a:xfrm>
          <a:prstGeom prst="line">
            <a:avLst/>
          </a:prstGeom>
          <a:noFill/>
          <a:ln w="38100">
            <a:solidFill>
              <a:srgbClr val="23555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1005840" y="1965960"/>
            <a:ext cx="274320" cy="274320"/>
          </a:xfrm>
          <a:prstGeom prst="ellipse">
            <a:avLst/>
          </a:prstGeom>
          <a:solidFill>
            <a:srgbClr val="ED835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2025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Founded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SAPI de CV established in Monterrey, NL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0" y="1965960"/>
            <a:ext cx="274320" cy="274320"/>
          </a:xfrm>
          <a:prstGeom prst="ellipse">
            <a:avLst/>
          </a:prstGeom>
          <a:solidFill>
            <a:srgbClr val="ED835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2194560" y="1508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2025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94560" y="23774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Assembled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94560" y="2651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partners with complementary expertise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480560" y="1965960"/>
            <a:ext cx="274320" cy="274320"/>
          </a:xfrm>
          <a:prstGeom prst="ellipse">
            <a:avLst/>
          </a:prstGeom>
          <a:solidFill>
            <a:srgbClr val="ED835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3931920" y="1508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2025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931920" y="23774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Validation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931920" y="2651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relationships &amp; client outreach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217920" y="1965960"/>
            <a:ext cx="274320" cy="274320"/>
          </a:xfrm>
          <a:prstGeom prst="ellipse">
            <a:avLst/>
          </a:prstGeom>
          <a:solidFill>
            <a:srgbClr val="ED835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5669280" y="1508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669280" y="23774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Identified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69280" y="2651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m² warehouse in industrial zone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955280" y="1965960"/>
            <a:ext cx="274320" cy="274320"/>
          </a:xfrm>
          <a:prstGeom prst="ellipse">
            <a:avLst/>
          </a:prstGeom>
          <a:solidFill>
            <a:srgbClr val="ADCF9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7406640" y="1508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406640" y="23774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LOIs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06640" y="2651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3-5 core customers secured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" y="3383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4E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Validation Achieved</a:t>
            </a:r>
            <a:endParaRPr lang="en-US" sz="1600" dirty="0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813048"/>
            <a:ext cx="201168" cy="201168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914400" y="377647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Experienced Leadership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2240280" y="37764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partners with deep manufacturing, finance, marketing, and operations expertise</a:t>
            </a:r>
            <a:endParaRPr lang="en-US" sz="1000" dirty="0"/>
          </a:p>
        </p:txBody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3813048"/>
            <a:ext cx="201168" cy="201168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5029200" y="377647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Board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6355080" y="37764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 Alvarez — 30+ years in business development and international manufacturing</a:t>
            </a:r>
            <a:endParaRPr lang="en-US" sz="1000" dirty="0"/>
          </a:p>
        </p:txBody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315968"/>
            <a:ext cx="201168" cy="201168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914400" y="427939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Demand Confirmed</a:t>
            </a:r>
            <a:endParaRPr lang="en-US" sz="1100" dirty="0"/>
          </a:p>
        </p:txBody>
      </p:sp>
      <p:sp>
        <p:nvSpPr>
          <p:cNvPr id="35" name="Text 30"/>
          <p:cNvSpPr/>
          <p:nvPr/>
        </p:nvSpPr>
        <p:spPr>
          <a:xfrm>
            <a:off x="2240280" y="42793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interest from OEMs seeking nearshore assembly alternatives to Asia</a:t>
            </a:r>
            <a:endParaRPr lang="en-US" sz="1000" dirty="0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4315968"/>
            <a:ext cx="201168" cy="201168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5029200" y="427939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Location</a:t>
            </a:r>
            <a:endParaRPr lang="en-US" sz="1100" dirty="0"/>
          </a:p>
        </p:txBody>
      </p:sp>
      <p:sp>
        <p:nvSpPr>
          <p:cNvPr id="38" name="Text 32"/>
          <p:cNvSpPr/>
          <p:nvPr/>
        </p:nvSpPr>
        <p:spPr>
          <a:xfrm>
            <a:off x="6355080" y="42793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Monterrey — Mexico's industrial capital, 2 hours from U.S. border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3555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5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Right-Sized vs. The Mega-EMS Giants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 rot="16200000">
            <a:off x="91440" y="2560320"/>
            <a:ext cx="457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 Focus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86000" y="4617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Flexibility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3931920" cy="3108960"/>
          </a:xfrm>
          <a:prstGeom prst="rect">
            <a:avLst/>
          </a:prstGeom>
          <a:solidFill>
            <a:srgbClr val="F5F7F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2606040" y="1371600"/>
            <a:ext cx="0" cy="3108960"/>
          </a:xfrm>
          <a:prstGeom prst="line">
            <a:avLst/>
          </a:prstGeom>
          <a:noFill/>
          <a:ln w="12700">
            <a:solidFill>
              <a:srgbClr val="D0D0D0"/>
            </a:solidFill>
            <a:prstDash val="dash"/>
          </a:ln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640080" y="2926080"/>
            <a:ext cx="3931920" cy="0"/>
          </a:xfrm>
          <a:prstGeom prst="line">
            <a:avLst/>
          </a:prstGeom>
          <a:noFill/>
          <a:ln w="12700">
            <a:solidFill>
              <a:srgbClr val="D0D0D0"/>
            </a:solidFill>
            <a:prstDash val="dash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731520" y="1417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PCBA-Centric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Scale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108960" y="1417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Assembly-Focused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Scale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91540" y="1531620"/>
            <a:ext cx="228600" cy="228600"/>
          </a:xfrm>
          <a:prstGeom prst="ellipse">
            <a:avLst/>
          </a:prstGeom>
          <a:solidFill>
            <a:srgbClr val="8A9BA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1165860" y="15361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Foxconn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348740" y="1805940"/>
            <a:ext cx="228600" cy="228600"/>
          </a:xfrm>
          <a:prstGeom prst="ellipse">
            <a:avLst/>
          </a:prstGeom>
          <a:solidFill>
            <a:srgbClr val="8A9BA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1623060" y="181051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Jabil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74420" y="2080260"/>
            <a:ext cx="228600" cy="228600"/>
          </a:xfrm>
          <a:prstGeom prst="ellipse">
            <a:avLst/>
          </a:prstGeom>
          <a:solidFill>
            <a:srgbClr val="8A9BA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1348740" y="20848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14500" y="2263140"/>
            <a:ext cx="228600" cy="228600"/>
          </a:xfrm>
          <a:prstGeom prst="ellipse">
            <a:avLst/>
          </a:prstGeom>
          <a:solidFill>
            <a:srgbClr val="8A9BA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1988820" y="226771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Celestica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20340" y="2537460"/>
            <a:ext cx="228600" cy="228600"/>
          </a:xfrm>
          <a:prstGeom prst="ellipse">
            <a:avLst/>
          </a:prstGeom>
          <a:solidFill>
            <a:srgbClr val="8A9BA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2994660" y="2542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 Tech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1645920"/>
            <a:ext cx="365760" cy="365760"/>
          </a:xfrm>
          <a:prstGeom prst="ellipse">
            <a:avLst/>
          </a:prstGeom>
          <a:solidFill>
            <a:srgbClr val="ED835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3703320" y="17190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GPW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4E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GPW Differentiation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029200" y="1783080"/>
            <a:ext cx="3657600" cy="320040"/>
          </a:xfrm>
          <a:prstGeom prst="rect">
            <a:avLst/>
          </a:prstGeom>
          <a:solidFill>
            <a:srgbClr val="23555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/>
          <p:nvPr/>
        </p:nvSpPr>
        <p:spPr>
          <a:xfrm>
            <a:off x="5074920" y="17830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09360" y="17830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Mega-EMS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498080" y="17830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GPW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0" y="2103120"/>
            <a:ext cx="3657600" cy="301752"/>
          </a:xfrm>
          <a:prstGeom prst="rect">
            <a:avLst/>
          </a:prstGeom>
          <a:solidFill>
            <a:srgbClr val="F5F7F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0" name="Text 28"/>
          <p:cNvSpPr/>
          <p:nvPr/>
        </p:nvSpPr>
        <p:spPr>
          <a:xfrm>
            <a:off x="5074920" y="2103120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Order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09360" y="2103120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$500M+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498080" y="2103120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029200" y="2404872"/>
            <a:ext cx="3657600" cy="3017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4" name="Text 32"/>
          <p:cNvSpPr/>
          <p:nvPr/>
        </p:nvSpPr>
        <p:spPr>
          <a:xfrm>
            <a:off x="5074920" y="2404872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09360" y="2404872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12-16 weeks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498080" y="2404872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4-6 weeks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029200" y="2706624"/>
            <a:ext cx="3657600" cy="301752"/>
          </a:xfrm>
          <a:prstGeom prst="rect">
            <a:avLst/>
          </a:prstGeom>
          <a:solidFill>
            <a:srgbClr val="F5F7F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8" name="Text 36"/>
          <p:cNvSpPr/>
          <p:nvPr/>
        </p:nvSpPr>
        <p:spPr>
          <a:xfrm>
            <a:off x="5074920" y="2706624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 Speed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309360" y="2706624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498080" y="2706624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029200" y="3008376"/>
            <a:ext cx="3657600" cy="3017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2" name="Text 40"/>
          <p:cNvSpPr/>
          <p:nvPr/>
        </p:nvSpPr>
        <p:spPr>
          <a:xfrm>
            <a:off x="5074920" y="3008376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309360" y="3008376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PCBA-centric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498080" y="3008376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Assembly-first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029200" y="3310128"/>
            <a:ext cx="3657600" cy="301752"/>
          </a:xfrm>
          <a:prstGeom prst="rect">
            <a:avLst/>
          </a:prstGeom>
          <a:solidFill>
            <a:srgbClr val="F5F7F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6" name="Text 44"/>
          <p:cNvSpPr/>
          <p:nvPr/>
        </p:nvSpPr>
        <p:spPr>
          <a:xfrm>
            <a:off x="5074920" y="3310128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309360" y="3310128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Asia/Global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498080" y="3310128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Monterrey, MX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029200" y="3611880"/>
            <a:ext cx="3657600" cy="3017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0" name="Text 48"/>
          <p:cNvSpPr/>
          <p:nvPr/>
        </p:nvSpPr>
        <p:spPr>
          <a:xfrm>
            <a:off x="5074920" y="3611880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309360" y="3611880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498080" y="3611880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digital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029200" y="3913632"/>
            <a:ext cx="3657600" cy="301752"/>
          </a:xfrm>
          <a:prstGeom prst="rect">
            <a:avLst/>
          </a:prstGeom>
          <a:solidFill>
            <a:srgbClr val="F5F7F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4" name="Text 52"/>
          <p:cNvSpPr/>
          <p:nvPr/>
        </p:nvSpPr>
        <p:spPr>
          <a:xfrm>
            <a:off x="5074920" y="3913632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Mgmt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309360" y="3913632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498080" y="3913632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solidFill>
            <a:srgbClr val="23555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8" name="Text 56"/>
          <p:cNvSpPr/>
          <p:nvPr/>
        </p:nvSpPr>
        <p:spPr>
          <a:xfrm>
            <a:off x="822960" y="45720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EMS competitors are PCBA-centric. GPW's assembly-first positioning fills a critical market gap.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3555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5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Three-Phase Growth Strategy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51760" cy="3108960"/>
          </a:xfrm>
          <a:prstGeom prst="rect">
            <a:avLst/>
          </a:prstGeom>
          <a:solidFill>
            <a:srgbClr val="F5F7F9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651760" cy="54864"/>
          </a:xfrm>
          <a:prstGeom prst="rect">
            <a:avLst/>
          </a:prstGeom>
          <a:solidFill>
            <a:srgbClr val="ED835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Relationship-Based Growth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103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42316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deals via personal networks &amp; advisory board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3-5 core customers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first sales rep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digital marketing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1371600"/>
            <a:ext cx="2651760" cy="3108960"/>
          </a:xfrm>
          <a:prstGeom prst="rect">
            <a:avLst/>
          </a:prstGeom>
          <a:solidFill>
            <a:srgbClr val="F5F7F9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3383280" y="1371600"/>
            <a:ext cx="2651760" cy="54864"/>
          </a:xfrm>
          <a:prstGeom prst="rect">
            <a:avLst/>
          </a:prstGeom>
          <a:solidFill>
            <a:srgbClr val="23555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3566160" y="1554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66160" y="1783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Outbound + Inbound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66160" y="2103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2-4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66160" y="242316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sales team (2-4 reps)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CRM system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10+ active customers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long-term contracts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09360" y="1371600"/>
            <a:ext cx="2651760" cy="3108960"/>
          </a:xfrm>
          <a:prstGeom prst="rect">
            <a:avLst/>
          </a:prstGeom>
          <a:solidFill>
            <a:srgbClr val="F5F7F9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8" name="Shape 16"/>
          <p:cNvSpPr/>
          <p:nvPr/>
        </p:nvSpPr>
        <p:spPr>
          <a:xfrm>
            <a:off x="6309360" y="1371600"/>
            <a:ext cx="2651760" cy="54864"/>
          </a:xfrm>
          <a:prstGeom prst="rect">
            <a:avLst/>
          </a:prstGeom>
          <a:solidFill>
            <a:srgbClr val="ADCF9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6492240" y="1554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92240" y="1783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Expansion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92240" y="2103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5+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92240" y="242316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full-service solutions (assembly + machining + fulfillment)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new verticals: aerospace, energy, medical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U.S. sales office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solidFill>
            <a:srgbClr val="23555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1: $35M  →  Year 2: $64M  →  Year 3: $71M  →  Year 4: $74M  →  Year 5: $78M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3555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5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Leadership That Delivers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1600200" cy="3017520"/>
          </a:xfrm>
          <a:prstGeom prst="rect">
            <a:avLst/>
          </a:prstGeom>
          <a:solidFill>
            <a:srgbClr val="F5F7F9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777240" cy="777240"/>
          </a:xfrm>
          <a:prstGeom prst="ellipse">
            <a:avLst/>
          </a:prstGeom>
          <a:solidFill>
            <a:srgbClr val="23555A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73736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24231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Alfredo Treviño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2788920"/>
            <a:ext cx="1234440" cy="274320"/>
          </a:xfrm>
          <a:prstGeom prst="rect">
            <a:avLst/>
          </a:prstGeom>
          <a:solidFill>
            <a:srgbClr val="ED835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7"/>
          <p:cNvSpPr/>
          <p:nvPr/>
        </p:nvSpPr>
        <p:spPr>
          <a:xfrm>
            <a:off x="457200" y="27889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CCO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65760" y="310896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22.5% equity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65760" y="338328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engineer, expert in international commercial operations and procurement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057400" y="1371600"/>
            <a:ext cx="1600200" cy="3017520"/>
          </a:xfrm>
          <a:prstGeom prst="rect">
            <a:avLst/>
          </a:prstGeom>
          <a:solidFill>
            <a:srgbClr val="F5F7F9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4" name="Shape 11"/>
          <p:cNvSpPr/>
          <p:nvPr/>
        </p:nvSpPr>
        <p:spPr>
          <a:xfrm>
            <a:off x="2468880" y="1554480"/>
            <a:ext cx="777240" cy="777240"/>
          </a:xfrm>
          <a:prstGeom prst="ellipse">
            <a:avLst/>
          </a:prstGeom>
          <a:solidFill>
            <a:srgbClr val="23555A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0" y="1737360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148840" y="24231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Enrique Arrieta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2240280" y="2788920"/>
            <a:ext cx="1234440" cy="274320"/>
          </a:xfrm>
          <a:prstGeom prst="rect">
            <a:avLst/>
          </a:prstGeom>
          <a:solidFill>
            <a:srgbClr val="ED835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Text 14"/>
          <p:cNvSpPr/>
          <p:nvPr/>
        </p:nvSpPr>
        <p:spPr>
          <a:xfrm>
            <a:off x="2240280" y="27889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CMO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2148840" y="310896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22.5% equity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2148840" y="338328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in B2B digital marketing and strategic branding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3840480" y="1371600"/>
            <a:ext cx="1600200" cy="3017520"/>
          </a:xfrm>
          <a:prstGeom prst="rect">
            <a:avLst/>
          </a:prstGeom>
          <a:solidFill>
            <a:srgbClr val="F5F7F9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2" name="Shape 18"/>
          <p:cNvSpPr/>
          <p:nvPr/>
        </p:nvSpPr>
        <p:spPr>
          <a:xfrm>
            <a:off x="4251960" y="1554480"/>
            <a:ext cx="777240" cy="777240"/>
          </a:xfrm>
          <a:prstGeom prst="ellipse">
            <a:avLst/>
          </a:prstGeom>
          <a:solidFill>
            <a:srgbClr val="23555A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737360"/>
            <a:ext cx="411480" cy="41148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3931920" y="24231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Gerardo García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4023360" y="2788920"/>
            <a:ext cx="1234440" cy="274320"/>
          </a:xfrm>
          <a:prstGeom prst="rect">
            <a:avLst/>
          </a:prstGeom>
          <a:solidFill>
            <a:srgbClr val="ED835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6" name="Text 21"/>
          <p:cNvSpPr/>
          <p:nvPr/>
        </p:nvSpPr>
        <p:spPr>
          <a:xfrm>
            <a:off x="4023360" y="27889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3931920" y="310896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22.5% equity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3931920" y="338328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finance strategist with expertise in analytics and operational oversight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5623560" y="1371600"/>
            <a:ext cx="1600200" cy="3017520"/>
          </a:xfrm>
          <a:prstGeom prst="rect">
            <a:avLst/>
          </a:prstGeom>
          <a:solidFill>
            <a:srgbClr val="F5F7F9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0" name="Shape 25"/>
          <p:cNvSpPr/>
          <p:nvPr/>
        </p:nvSpPr>
        <p:spPr>
          <a:xfrm>
            <a:off x="6035040" y="1554480"/>
            <a:ext cx="777240" cy="777240"/>
          </a:xfrm>
          <a:prstGeom prst="ellipse">
            <a:avLst/>
          </a:prstGeom>
          <a:solidFill>
            <a:srgbClr val="23555A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737360"/>
            <a:ext cx="411480" cy="41148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5715000" y="24231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Pablo Jiménez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5806440" y="2788920"/>
            <a:ext cx="1234440" cy="274320"/>
          </a:xfrm>
          <a:prstGeom prst="rect">
            <a:avLst/>
          </a:prstGeom>
          <a:solidFill>
            <a:srgbClr val="ED835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4" name="Text 28"/>
          <p:cNvSpPr/>
          <p:nvPr/>
        </p:nvSpPr>
        <p:spPr>
          <a:xfrm>
            <a:off x="5806440" y="27889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5715000" y="310896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22.5% equity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5715000" y="338328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and operations expert in advanced product development and quality</a:t>
            </a:r>
            <a:endParaRPr lang="en-US" sz="900" dirty="0"/>
          </a:p>
        </p:txBody>
      </p:sp>
      <p:sp>
        <p:nvSpPr>
          <p:cNvPr id="37" name="Shape 31"/>
          <p:cNvSpPr/>
          <p:nvPr/>
        </p:nvSpPr>
        <p:spPr>
          <a:xfrm>
            <a:off x="7406640" y="1371600"/>
            <a:ext cx="1600200" cy="3017520"/>
          </a:xfrm>
          <a:prstGeom prst="rect">
            <a:avLst/>
          </a:prstGeom>
          <a:solidFill>
            <a:srgbClr val="F5F7F9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8" name="Shape 32"/>
          <p:cNvSpPr/>
          <p:nvPr/>
        </p:nvSpPr>
        <p:spPr>
          <a:xfrm>
            <a:off x="7818120" y="1554480"/>
            <a:ext cx="777240" cy="777240"/>
          </a:xfrm>
          <a:prstGeom prst="ellipse">
            <a:avLst/>
          </a:prstGeom>
          <a:solidFill>
            <a:srgbClr val="23555A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737360"/>
            <a:ext cx="411480" cy="411480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7498080" y="24231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 Alvarez</a:t>
            </a:r>
            <a:endParaRPr lang="en-US" sz="1100" dirty="0"/>
          </a:p>
        </p:txBody>
      </p:sp>
      <p:sp>
        <p:nvSpPr>
          <p:cNvPr id="41" name="Shape 34"/>
          <p:cNvSpPr/>
          <p:nvPr/>
        </p:nvSpPr>
        <p:spPr>
          <a:xfrm>
            <a:off x="7589520" y="2788920"/>
            <a:ext cx="1234440" cy="274320"/>
          </a:xfrm>
          <a:prstGeom prst="rect">
            <a:avLst/>
          </a:prstGeom>
          <a:solidFill>
            <a:srgbClr val="ED835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2" name="Text 35"/>
          <p:cNvSpPr/>
          <p:nvPr/>
        </p:nvSpPr>
        <p:spPr>
          <a:xfrm>
            <a:off x="7589520" y="27889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Business Dev</a:t>
            </a:r>
            <a:endParaRPr lang="en-US" sz="1000" dirty="0"/>
          </a:p>
        </p:txBody>
      </p:sp>
      <p:sp>
        <p:nvSpPr>
          <p:cNvPr id="43" name="Text 36"/>
          <p:cNvSpPr/>
          <p:nvPr/>
        </p:nvSpPr>
        <p:spPr>
          <a:xfrm>
            <a:off x="7498080" y="310896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equity</a:t>
            </a:r>
            <a:endParaRPr lang="en-US" sz="900" dirty="0"/>
          </a:p>
        </p:txBody>
      </p:sp>
      <p:sp>
        <p:nvSpPr>
          <p:cNvPr id="44" name="Text 37"/>
          <p:cNvSpPr/>
          <p:nvPr/>
        </p:nvSpPr>
        <p:spPr>
          <a:xfrm>
            <a:off x="7498080" y="338328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years in business development and international manufacturing</a:t>
            </a:r>
            <a:endParaRPr lang="en-US" sz="900" dirty="0"/>
          </a:p>
        </p:txBody>
      </p:sp>
      <p:sp>
        <p:nvSpPr>
          <p:cNvPr id="45" name="Shape 38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solidFill>
            <a:srgbClr val="E8F0F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6" name="Text 39"/>
          <p:cNvSpPr/>
          <p:nvPr/>
        </p:nvSpPr>
        <p:spPr>
          <a:xfrm>
            <a:off x="822960" y="45720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Board: Luis Alvarez brings 30+ years of international manufacturing experience to guide GPW's strategic growth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3555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PROJECTIONS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5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5-Year Revenue &amp; Profitability</a:t>
            </a:r>
            <a:endParaRPr lang="en-US" sz="2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280160"/>
          <a:ext cx="50292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760720" y="1280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4E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Metrics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760720" y="1691640"/>
            <a:ext cx="3017520" cy="274320"/>
          </a:xfrm>
          <a:prstGeom prst="rect">
            <a:avLst/>
          </a:prstGeom>
          <a:solidFill>
            <a:srgbClr val="F5F7F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5"/>
          <p:cNvSpPr/>
          <p:nvPr/>
        </p:nvSpPr>
        <p:spPr>
          <a:xfrm>
            <a:off x="5852160" y="1691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Y1 Revenue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498080" y="1691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$35.3M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760720" y="1965960"/>
            <a:ext cx="30175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8"/>
          <p:cNvSpPr/>
          <p:nvPr/>
        </p:nvSpPr>
        <p:spPr>
          <a:xfrm>
            <a:off x="5852160" y="1965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Y1 EBITDA Margin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498080" y="1965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38.6%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760720" y="2240280"/>
            <a:ext cx="3017520" cy="274320"/>
          </a:xfrm>
          <a:prstGeom prst="rect">
            <a:avLst/>
          </a:prstGeom>
          <a:solidFill>
            <a:srgbClr val="F5F7F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Text 11"/>
          <p:cNvSpPr/>
          <p:nvPr/>
        </p:nvSpPr>
        <p:spPr>
          <a:xfrm>
            <a:off x="5852160" y="2240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Y1 Net Margin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498080" y="22402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12.3%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760720" y="2514600"/>
            <a:ext cx="30175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Text 14"/>
          <p:cNvSpPr/>
          <p:nvPr/>
        </p:nvSpPr>
        <p:spPr>
          <a:xfrm>
            <a:off x="5852160" y="2514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Y1 Net Income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498080" y="2514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$7.9M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760720" y="2788920"/>
            <a:ext cx="3017520" cy="274320"/>
          </a:xfrm>
          <a:prstGeom prst="rect">
            <a:avLst/>
          </a:prstGeom>
          <a:solidFill>
            <a:srgbClr val="F5F7F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0" name="Text 17"/>
          <p:cNvSpPr/>
          <p:nvPr/>
        </p:nvSpPr>
        <p:spPr>
          <a:xfrm>
            <a:off x="5852160" y="2788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Growth Rate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498080" y="27889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7.5%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760720" y="3063240"/>
            <a:ext cx="30175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3" name="Text 20"/>
          <p:cNvSpPr/>
          <p:nvPr/>
        </p:nvSpPr>
        <p:spPr>
          <a:xfrm>
            <a:off x="5852160" y="3063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Y1 Operating Cost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498080" y="3063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~$21M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760720" y="3337560"/>
            <a:ext cx="3017520" cy="274320"/>
          </a:xfrm>
          <a:prstGeom prst="rect">
            <a:avLst/>
          </a:prstGeom>
          <a:solidFill>
            <a:srgbClr val="F5F7F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6" name="Text 23"/>
          <p:cNvSpPr/>
          <p:nvPr/>
        </p:nvSpPr>
        <p:spPr>
          <a:xfrm>
            <a:off x="5852160" y="33375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Target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7498080" y="33375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&gt;30% YoY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760720" y="3611880"/>
            <a:ext cx="30175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9" name="Text 26"/>
          <p:cNvSpPr/>
          <p:nvPr/>
        </p:nvSpPr>
        <p:spPr>
          <a:xfrm>
            <a:off x="5852160" y="3611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Breakeven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7498080" y="3611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12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40080" y="4114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4E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Headcount Plan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640080" y="4434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(Y1):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operators + 4 technicians   |   </a:t>
            </a:r>
            <a:r>
              <a:rPr lang="en-US" sz="10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(Y1):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founders + 14 staff (sales, HR, marketing, finance)   |   </a:t>
            </a:r>
            <a:r>
              <a:rPr lang="en-US" sz="10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Growth: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headcount scales with 7.5% YoY revenue growth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3555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D835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$7.5M to Launch &amp; Scale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3200400" cy="1645920"/>
          </a:xfrm>
          <a:prstGeom prst="rect">
            <a:avLst/>
          </a:prstGeom>
          <a:solidFill>
            <a:srgbClr val="23555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$7,495,954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DC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Initial Investment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6974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ROI: Investment recovered within Year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97680" y="1371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of Funds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97680" y="182880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Capital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97680" y="2011680"/>
            <a:ext cx="2926080" cy="164592"/>
          </a:xfrm>
          <a:prstGeom prst="rect">
            <a:avLst/>
          </a:prstGeom>
          <a:solidFill>
            <a:srgbClr val="ED835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7315200" y="197510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$5.2M  (69%)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97680" y="233172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 Inefficiency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97680" y="2514600"/>
            <a:ext cx="1280160" cy="164592"/>
          </a:xfrm>
          <a:prstGeom prst="rect">
            <a:avLst/>
          </a:prstGeom>
          <a:solidFill>
            <a:srgbClr val="ED835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5669280" y="247802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$1.2M  (16%)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97680" y="28346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(Setup &amp; Assets)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297680" y="3017520"/>
            <a:ext cx="914400" cy="164592"/>
          </a:xfrm>
          <a:prstGeom prst="rect">
            <a:avLst/>
          </a:prstGeom>
          <a:solidFill>
            <a:srgbClr val="ED835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5303520" y="298094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$885K  (12%)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297680" y="333756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Salaries (Pre-Launch)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297680" y="3520440"/>
            <a:ext cx="320040" cy="164592"/>
          </a:xfrm>
          <a:prstGeom prst="rect">
            <a:avLst/>
          </a:prstGeom>
          <a:solidFill>
            <a:srgbClr val="ED835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4709160" y="348386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$261K  (3%)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3383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DCF9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Milestones This Investment Unlocks</a:t>
            </a:r>
            <a:endParaRPr lang="en-US" sz="140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858768"/>
            <a:ext cx="182880" cy="18288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914400" y="3840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$35M Year 1 revenue</a:t>
            </a:r>
            <a:endParaRPr lang="en-US" sz="1100" dirty="0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3858768"/>
            <a:ext cx="182880" cy="18288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3749040" y="3840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m² facility fully operational</a:t>
            </a:r>
            <a:endParaRPr lang="en-US" sz="1100" dirty="0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3858768"/>
            <a:ext cx="182880" cy="18288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583680" y="3840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48+ direct operators hired and trained</a:t>
            </a:r>
            <a:endParaRPr lang="en-US" sz="1100" dirty="0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270248"/>
            <a:ext cx="182880" cy="18288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914400" y="42519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 core OEM customers secured</a:t>
            </a:r>
            <a:endParaRPr lang="en-US" sz="1100" dirty="0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4270248"/>
            <a:ext cx="182880" cy="18288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3749040" y="42519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certification process initiated</a:t>
            </a:r>
            <a:endParaRPr lang="en-US" sz="1100" dirty="0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4270248"/>
            <a:ext cx="182880" cy="18288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6583680" y="42519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Breakeven achieved by month 12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3555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D835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0" y="1371600"/>
            <a:ext cx="137160" cy="2286000"/>
          </a:xfrm>
          <a:prstGeom prst="rect">
            <a:avLst/>
          </a:prstGeom>
          <a:solidFill>
            <a:srgbClr val="23555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the Future of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Nearshore Manufacturing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31520" y="2377440"/>
            <a:ext cx="2286000" cy="0"/>
          </a:xfrm>
          <a:prstGeom prst="line">
            <a:avLst/>
          </a:prstGeom>
          <a:noFill/>
          <a:ln w="25400">
            <a:solidFill>
              <a:srgbClr val="ADCF9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GPW is positioned at the convergence of three unstoppable forces: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8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nearshoring, AI infrastructure demand, and supply chain resilience.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talk about building together.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9776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gpw-solutions.com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Monterrey, Nuevo León, Mexico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contact@gpw-solutions.com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1241</Words>
  <Application>Microsoft Office PowerPoint</Application>
  <PresentationFormat>Presentación en pantalla (16:9)</PresentationFormat>
  <Paragraphs>313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Calibri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GPW — Investor Presentation</dc:title>
  <dc:subject>PptxGenJS Presentation</dc:subject>
  <dc:creator>Global Precision Works</dc:creator>
  <cp:lastModifiedBy>Enrique Arrieta Guajardo</cp:lastModifiedBy>
  <cp:revision>1</cp:revision>
  <dcterms:created xsi:type="dcterms:W3CDTF">2026-03-06T01:48:54Z</dcterms:created>
  <dcterms:modified xsi:type="dcterms:W3CDTF">2026-03-06T02:16:35Z</dcterms:modified>
</cp:coreProperties>
</file>